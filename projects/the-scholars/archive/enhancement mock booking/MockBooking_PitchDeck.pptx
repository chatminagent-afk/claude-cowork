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2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52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5E41-1F19-0BDB-27A2-44D8F16E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9C84A-FE0F-F83D-B95E-5AA3E51CC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2A31E-3CDE-CC74-7B55-24357F40A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498C7-3FFA-3EB7-E6AD-F386EE1C1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630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8FAFC"/>
                </a:solidFill>
              </a:rPr>
              <a:t>THE SCHOLARS · MOCK INTERVIEW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Scholars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Systems.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otomatis. Jadwal rapi. Sam </a:t>
            </a:r>
            <a:r>
              <a:rPr lang="en-US" sz="1500" i="1" dirty="0" err="1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fokus</a:t>
            </a:r>
            <a:r>
              <a:rPr lang="en-US" sz="15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mengajar</a:t>
            </a:r>
            <a:r>
              <a:rPr lang="en-US" sz="15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improve The Scholars.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28600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Presented by : Steven Leroy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33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Apa itu Mock Booking System?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11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Pain 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Masalah yang terjadi tanpa sistem ini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Bagaimana sistem ini menyelesaikannya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84048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931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913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Fitur lengkap &amp; cara kerjanya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1033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Flow &amp;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Step-by-step proses booking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011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Investment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Harga setup &amp; monthly fee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Advantages &amp; ROI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Kenapa ini investasi yang layak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02336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931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94960" y="3913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Timeline go-live 30 hari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dirty="0">
                <a:solidFill>
                  <a:srgbClr val="0891B2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1097280" y="11887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Waktu adalah sumber daya paling berharga yang kita punya.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Jangan habiskan untuk hal-hal yang bisa diotomatisasi.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Setiap menit Sam habiskan untuk balas booking manual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adalah menit yang bisa dipakai untuk mengajar.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129284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PAIN POINTS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114800" cy="173736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078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078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9E0B"/>
                </a:solidFill>
              </a:rPr>
              <a:t>BOOKING MANUAL &amp; RAWAN ERROR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Sam harus balas WA satu per satu, catat jadwal secara manual — rawan salah catat dan missed message.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1078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32120" y="1078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9E0B"/>
                </a:solidFill>
              </a:rPr>
              <a:t>SLOT BENTROK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9472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2 murid bisa submit booking untuk jadwal yang sama secara bersamaan → salah satu kecewa.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4114800" cy="173736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88720" y="2999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9E0B"/>
                </a:solidFill>
              </a:rPr>
              <a:t>TIDAK ADA NOTIFIKASI OTOMATIS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Murid tidak tahu apakah booking mereka diterima atau ditolak kecuali Sam membalas manual.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32120" y="2999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9E0B"/>
                </a:solidFill>
              </a:rPr>
              <a:t>INFO PEMBAYARAN DIKIRIM MANUAL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Setiap booking dikonfirmasi, Sam harus kirim ulang info rekening, nominal, dan deadline — berulang tanpa henti.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129284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29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PAIN POINTS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514600" cy="3200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84632" y="1828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59E0B"/>
                </a:solidFill>
              </a:rPr>
              <a:t>SLOT TIDAK TERKELOLA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242316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Tidak ada tampilan real-time jadwal yang tersedia. Murid tidak tahu slot mana yang kosong.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514600" cy="3200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59E0B"/>
                </a:solidFill>
              </a:rPr>
              <a:t>ADMIN OVERLOAD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Sam harus ingat, catat, konfirmasi, dan follow up semua booking sendiri → waktu produktif terkuras.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005840"/>
            <a:ext cx="2514600" cy="3200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🚪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73368" y="18288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59E0B"/>
                </a:solidFill>
              </a:rPr>
              <a:t>LOST REVENUE FROM SLOW RESPONSE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73368" y="242316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Booking yang lama diproses atau tidak dibalas = murid memilih tempat lain. Revenue bocor diam-diam.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Booking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A Smart WhatsApp-Based Booking Automation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for The Scholars Mock Interview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28600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Dibangun di atas n8n + Google Sheets + WhatsApp API · Terintegrasi penuh dengan workflow Sam.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Kenapa harus pakai Mock Booking System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dibanding tetap manual?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1848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Zero Human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1911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Sistem mencatat semua data secara otomatis. Tidak ada booking yang terlewat atau salah catat.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1576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9848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Instant Response 24/7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0083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Murid bisa submit booking kapan saja. Sam tidak perlu online untuk memproses request masuk.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1304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9848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Conflict-Free Scheduling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" y="41056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Race condition protection memastikan tidak ada 2 murid yang bisa mendapatkan slot yang sama.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61848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58968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Full Control di Tangan Sam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58968" y="1911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Sam tetap punya kendali penuh — konfirmasi atau tolak dengan 1 tap. Bot tidak bekerja tanpa approval Sam.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71576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 Tersimpan Rapi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30083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Semua booking, nama, kontak, dan info tersinkron otomatis ke Google Sheets yang bisa diakses kapan saja.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06908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81304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58968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Scalable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41056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Mau 5 booking atau 50 booking per bulan — sistem bekerja dengan kapasitas yang sama tanpa biaya tambahan.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284732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284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CORE 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</a:rPr>
              <a:t>Mock Booking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WhatsApp Booking 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Form booking via link — murid isi data lengkap, submit, dan langsung terekam.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56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Smart Slot Management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Tampilkan slot tersedia secara real-time. Slot yang sudah dibook otomatis hilang dari pilihan.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1460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Instant Sam Notification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Sam langsung terima WA berisi data lengkap murid + link Konfirmasi &amp; Tolak.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One-Click Confirm / Reject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Sam konfirmasi atau tolak booking hanya dengan 1 tap di WA — tanpa buka aplikasi lain.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06908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Auto WA Confirmation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" y="4462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Info pembayaran (bank, rekening, nominal, deadline) otomatis terkirim ke murid saat dikonfirmasi.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84632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Auto WA Rejection + Re-open Slot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01768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Murid diberi tahu &amp; diarahkan rebook. Slot otomatis terbuka kembali untuk murid lain.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73736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856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Monthly Auto-Generate Slots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01768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Slot bulan berikutnya dibuat otomatis setiap tanggal 1 — Sam tidak perlu input manual.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51460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Race Condition Protection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01768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Jika 2 murid submit slot yang sama bersamaan, sistem memastikan hanya 1 yang diproses.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29184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Human-in-the-Loop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01768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Sam tetap pemegang keputusan. Semua konfirmasi &amp; penolakan butuh approval Sam.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406908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Google Sheets Sync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01768" y="4462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Semua data booking tersimpan otomatis ke Google Sheets — siap diakses, difilter, atau dianalisis.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4846320"/>
            <a:ext cx="4023360" cy="731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896112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THE 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11887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Murid Buka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Booking 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Link dibagikan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via WhatsApp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atau media sosial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36776" y="1810512"/>
            <a:ext cx="100584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" y="1234440"/>
            <a:ext cx="11887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051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Pilih 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&amp; Submit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051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Form otomatis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cek ketersediaan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slot real-time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62656" y="1810512"/>
            <a:ext cx="100584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06324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63240" y="1234440"/>
            <a:ext cx="11887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3639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Sam Terima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Notifikasi WA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3639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Notif instan berisi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nama, kelas, sekolah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&amp; tombol konfirmasi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88536" y="1810512"/>
            <a:ext cx="100584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0" y="1234440"/>
            <a:ext cx="11887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6227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Sam Konfirmasi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atau Tolak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6227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Satu klik dari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WA — tidak perlu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buka dashboard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14416" y="1810512"/>
            <a:ext cx="100584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15000" y="1234440"/>
            <a:ext cx="11887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8815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Murid Terima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WA Otomatis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8815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Pesan konfirmasi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atau penolakan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dikirim otomatis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0296" y="1810512"/>
            <a:ext cx="100584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7040880" y="1234440"/>
            <a:ext cx="1188720" cy="29260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1234440"/>
            <a:ext cx="11887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7406640" y="1371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14032" y="19842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Data Tersimpan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di Google Sheets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14032" y="2807208"/>
            <a:ext cx="1042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Nama, slot, status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langsung tercatat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tanpa input manual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1005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Murid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51760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Sam (Human-in-the-loop)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10058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Sistem Otomatis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Dari form link booking hingga data tersimpan di sheet — semua berjalan otomatis dalam hitungan detik.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Booking 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Murid mengisi form booking lewat link — tidak perlu DM manual ke Sam lagi.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🔗 Link Booking Universal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Satu link pendek (contoh: tinyurl.com/mockbooking) dibagikan di bio, grup, atau langsung via WA.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📱 Mobile-First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Form didesain untuk smartphone — loading cepat, input mudah, tanpa perlu install aplikasi.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✅ Validasi Data Otomatis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Nomor WA, field wajib, dan format data divalidasi sebelum submit — data yang masuk selalu bersih.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⚡ Real-Time Slot Display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Slot yang tampil hanya yang benar-benar tersedia — tidak ada slot yang sudah dibook atau penuh.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Tech stack: HTML + JavaScript + n8n Webhook | Data langsung masuk ke Google Sheets saat submit.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🗓️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Slot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Slot jadwal dikelola otomatis — Sam tidak perlu update manual setiap ada booking masuk.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🔄 Auto-Hide Booked Slots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Begitu slot dikonfirmasi, slot tersebut otomatis hilang dari tampilan form booking murid lain.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♻️ Auto Re-open on Reject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Jika Sam menolak booking, slot langsung terbuka kembali dan bisa dipilih murid lain.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📆 Monthly Auto-Generate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Slot bulan depan dibuat otomatis setiap tanggal 1 — berdasarkan jadwal Senin, Selasa, Kamis, Jumat.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🔢 Unique Slot ID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Setiap slot punya ID unik (SLOT-YYYYMMDD) untuk tracking yang akurat dan bebas duplikasi.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Sheet: MOCK_SLOTS — kolom: ID | Tanggal | JamMulai | JamSelesai | Booked | NamaPemesan | NoWaPemesan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Sam Notification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Sam langsung terima WA notifikasi lengkap setiap ada booking masuk — tidak ada yang terlewat.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⚡ Notifikasi Instan via WA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Begitu murid submit, Sam langsung terima WhatsApp berisi semua data booking dalam hitungan detik.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📋 Data Lengkap dalam 1 Pesan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Nama anak, orang tua, no WA, sekolah, kelas, kurikulum, target universitas, dan jadwal — semua dalam 1 WA.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🔗 Link Aksi Siap Klik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Di bawah notifikasi ada 2 link: ✅ KONFIRMASI dan ❌ TOLAK — Sam tinggal tap, langsung diproses.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🆔 ID Booking Unik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Setiap booking punya ID unik untuk tracking — memudahkan Sam jika perlu cari data di sheet.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Notifikasi dikirim via WhatsApp API (Kirimi.id) ke nomor WA Sam yang terdaftar.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One-Click Confirm / Reject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Sam tidak perlu buka apps lain. Satu tap di WA → proses selesai.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3840480" cy="34747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80160"/>
            <a:ext cx="3840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 TAP KONFIRMASI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Status booking → Confirmed di Google Sheets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Slot ditandai Booked (tidak tampil ke murid lain)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WA otomatis terkirim ke murid berisi: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09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Info pembayaran (bank, rekening, nominal)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Deadline transfer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Pesan selamat &amp; sampai jumpa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3840480" cy="34747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80160"/>
            <a:ext cx="38404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❌  TAP TOLAK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Status booking → Rejected di Google Sheets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Slot otomatis terbuka kembali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→ WA otomatis terkirim ke murid berisi: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09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Pemberitahuan slot tidak tersedia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Link untuk rebook jadwal lain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 · Pesan sopan dari Sam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WA Confirmation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Begitu Sam tap Konfirmasi, murid langsung terima WhatsApp berisi semua info yang dibutuhkan.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💳 Info Pembayaran Otomatis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Nama bank, nomor rekening, atas nama, nominal, dan deadline terkirim otomatis tanpa Sam ketik ulang.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🎉 Pesan Personal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WA dikirim atas nama Sam dengan sapaan nama murid — terasa personal, bukan bot generic.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⚙️ Konfigurasi Fleksibel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Nominal, rekening, dan deadline bisa diubah Sam kapan saja via sheet CONFIG — langsung berlaku.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📝 Reminder Upload Bukti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Murid diminta kirim bukti transfer ke nomor Sam — closing loop pembayaran dilakukan manusia.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Konfigurasi di sheet CONFIG: NOMINAL_BIAYA | NAMA_BANK | NOMOR_REKENING | ATAS_NAMA | DEADLINE_HARI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WA Rejection &amp; Slot Reopen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Penolakan booking ditangani sistem — slot langsung terbuka kembali, murid langsung diarahkan rebook.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📤 Notifikasi Penolakan Sopan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Murid terima WA berisi alasan umum &amp; link untuk booking ulang di jadwal lain yang masih tersedia.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♻️ Slot Langsung Terbuka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Kolom Booked di MOCK_SLOTS dikosongkan otomatis — slot bisa dipilih murid lain saat itu juga.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🔗 Link Rebook Langsung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WA penolakan sudah berisi link form booking — murid tidak perlu cari-cari sendiri.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📊 Tetap Tercatat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Booking yang ditolak tetap tersimpan di sheet dengan status Rejected — data tidak hilang.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Slot di-free atomically: Booked='', NamaPemesan='', NoWaPemesan='' — siap untuk booking berikutnya.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📆 Monthly Auto-Generate Slots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Slot bulan berikutnya dibuat otomatis setiap tanggal 1 — Sam tidak perlu input manual apapun.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114800" cy="3383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Jadwal yang Di-generate: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📅  Hari   : Senin, Selasa, Kamis, Jumat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⏰  Waktu  : 19:30 — 21:30 WIB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🔁  Trigger : Otomatis tanggal 1 setiap bulan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🆔  Slot ID  : SLOT-YYYYMMDD (unik per hari)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1148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📋  Sheet   : MOCK_SLOTS (append otomatis)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840480" cy="3383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Impact: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menit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Sam input 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per bulan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36576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91072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slot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Dibuat otomatis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setiap bulan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79792" y="1920240"/>
            <a:ext cx="36576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552944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552944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akurat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52944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Tidak ada slot yang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terlewat atau salah hari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Rabu dan akhir pekan dikecualikan otomatis dari generate slot.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Race Condition Protection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Perlindungan canggih untuk skenario 2 murid submit slot yang sama di waktu bersamaan.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023360" cy="3383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40233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Tanpa Perlindungan 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1.  Murid A &amp; B submit slot yang sama bersamaan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2.  Keduanya masuk sebagai Pending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266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3.  Sam konfirmasi A → jadwal penuh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5570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4.  Sam konfirmasi B → SLOT BENTROK! 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087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5.  Booking double untuk 1 slot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023360" cy="3383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25880"/>
            <a:ext cx="40233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Dengan Mock Booking System 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1.  Murid A &amp; B submit slot yang sama bersamaan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2.  Sistem detect: A sudah dikonfirmasi untuk slot ini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0266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3.  Sam buka link B → muncul halaman peringatan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4.  Tampil info: slot sudah dibooked oleh Murid 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5.  Sam bisa tolak B tanpa bebaskan slot milik 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Sistem tidak bekerja sendiri. Setiap konfirmasi butuh approval Sam — kontrol tetap di tangan manusia.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🔐 Sam Pemegang Keputusan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Tidak ada booking yang dikonfirmasi tanpa Sam tap link konfirmasi. Bot tidak bisa auto-approve.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🛑 Override Kapan Saja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Sam bisa reject booking apapun kapan saja — sistem mengikuti keputusan Sam, bukan sebaliknya.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⚡ Aksi Minimal, Dampak Maksimal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Sam hanya perlu 1 tap untuk memproses booking. Sisanya ditangani sistem secara otomatis.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📋 Audit Trail Lengkap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Setiap action Sam (confirm/reject) tercatat dengan timestamp di Google Sheets — transparan &amp; akuntabel.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Filosofi: Otomasi menghemat waktu Sam, bukan menggantikan judgment Sam.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8FAFC"/>
                </a:solidFill>
              </a:rPr>
              <a:t>FEATURE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Sheets Sync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Semua data booking tersinkron otomatis ke Google Sheets — database yang familiar dan mudah diakses.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🗃️ Database Real-Time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Setiap booking masuk langsung append ke sheet MOCK_INTERVIEW_BOOKING dengan semua field terisi otomatis.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🔍 Filter &amp; Cari Mudah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Sam bisa filter berdasarkan tanggal, status, nama murid, atau sekolah langsung dari Google Sheets.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📈 History Tersimpan Selamanya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Booking yang confirmed, rejected, maupun pending semua tersimpan dengan status &amp; timestamp akurat.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9144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⚙️ Config dari Sheet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8254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Sam bisa update nominal biaya, rekening, dan deadline langsung dari sheet CONFIG — efektif saat itu juga.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Sheets: MOCK_SLOTS (jadwal) · MOCK_INTERVIEW_BOOKING (semua booking) · CONFIG (pengaturan sistem)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 vs 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3840480" cy="365760"/>
          </a:xfrm>
          <a:prstGeom prst="rect">
            <a:avLst/>
          </a:prstGeom>
          <a:solidFill>
            <a:srgbClr val="2D0A0A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658368"/>
            <a:ext cx="38404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Sebelum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658368"/>
            <a:ext cx="3840480" cy="365760"/>
          </a:xfrm>
          <a:prstGeom prst="rect">
            <a:avLst/>
          </a:prstGeom>
          <a:solidFill>
            <a:srgbClr val="0A2D1A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658368"/>
            <a:ext cx="3840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658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Sesudah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11556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161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Sam balas WA satu per satu untuk tiap booking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Slot bisa bentrok — 2 murid dapat jadwal yang sama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258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Info pembayaran diketik ulang manual setiap konfirmasi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6148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Slot jadwal tidak terlihat — murid harus tanya dulu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31012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Tidak ada notifikasi otomatis ke murid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5876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Data booking disimpan di otak atau catatan pribadi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40740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453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✗  Slot bulan baru dibuat manual di awal bulan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11556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1161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Semua booking masuk otomatis — Sam hanya tap 1 kali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66420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Race condition protection — hanya 1 murid per slot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21284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74920" y="2258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Info pembayaran terkirim otomatis saat dikonfirmasi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2807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Form menampilkan slot tersedia secara real-time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31012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WA konfirmasi/penolakan otomatis terkirim ke murid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85876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Semua data tersinkron otomatis ke Google Sheets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4407408"/>
            <a:ext cx="3840480" cy="4572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74920" y="4453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✓  Slot auto-generate setiap tanggal 1 — zero effort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22D3EE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Freedom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"Waktu adalah aset paling berharga. Jangan habiskan untuk hal yang bisa diotomatisasi."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Estimasi konservatif: Sam habiskan minimal 30–45 menit/hari untuk proses booking manual — balas WA, catat, kirim info pembayaran.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30 menit × 26 hari kerja = 13 jam/bulan yang bisa dialihkan untuk: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Persiapan materi &amp; strategi mengajar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Pengembangan kurikulum The Scholars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Networking &amp; partnership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Strategi marketing &amp; growth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697480"/>
            <a:ext cx="2011680" cy="1371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697480"/>
            <a:ext cx="20116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7614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jam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72084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kembali ke tangan Sam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setiap bulan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0B98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Booking Error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"Sistem tidak lelah, tidak lupa, dan tidak salah catat."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Dengan booking manual, risiko human error selalu ada: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Slot dobel karena 2 WA masuk bersamaan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Lupa balas konfirmasi ke murid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Salah kirim info rekening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Data murid tidak tercatat lengkap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Mock Booking System mengeliminasi semua risiko ini. Race condition protection, validasi otomatis, dan notifikasi instan memastikan setiap booking diproses dengan sempurna.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697480"/>
            <a:ext cx="2011680" cy="1371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69748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7614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72084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human error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dalam proses booking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59E0B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 Without Complexity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"Bisnis grow? Sistem tidak perlu diganti — cukup tambah slot."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Solusi konvensional saat booking makin banyak: hire admin tambahan (Rp3–5 juta/bulan/orang).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Dengan Mock Booking System: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Dari 5 booking jadi 50 booking/bulan? Biaya tetap sama.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Tidak ada onboarding, training, atau koordinasi tambahan.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Sistem bekerja 24/7 tanpa gaji, tanpa sakit, tanpa resign.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Sam bisa fokus scale kualitas, bukan scale administrasi.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697480"/>
            <a:ext cx="2011680" cy="1371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69748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7614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72084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biaya tambahan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saat volume naik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22D3EE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Brand Image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"First impression dimulai dari bagaimana kamu merespons."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Murid &amp; orang tua menilai profesionalisme The Scholars dari pengalaman booking mereka: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Respons instan (&lt; 5 detik setelah submit) vs nunggu balasan WA berjam-jam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Notifikasi rapi dan terstruktur vs chat informal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Sistem yang seamless = kepercayaan lebih tinggi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→  Kepercayaan lebih tinggi = berani bayar lebih mahal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</a:rPr>
              <a:t>Profesionalisme bukan tentang ukuran bisnis — tapi tentang pengalaman yang diberikan.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697480"/>
            <a:ext cx="2011680" cy="1371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20840" y="2697480"/>
            <a:ext cx="20116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7614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72084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persepsi profesionalisme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dari calon murid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ROI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5120640" cy="402336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412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Contoh Perhitungan ROI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Prospek masuk per bulan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0" y="13533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8FAFC"/>
                </a:solidFill>
              </a:rPr>
              <a:t>20 murid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773936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Harga 1 sesi Mock Interview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8FAFC"/>
                </a:solidFill>
              </a:rPr>
              <a:t>Rp 500.000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249424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Potensi omzet/bulan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0" y="23042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8FAFC"/>
                </a:solidFill>
              </a:rPr>
              <a:t>Rp 10.000.000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724912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79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Tanpa sistem — 15% hilang krn slow response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27797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F4444"/>
                </a:solidFill>
              </a:rPr>
              <a:t>−Rp 1.500.000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200400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Dengan sistem — recovery 100%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32552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+Rp 1.500.000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675888"/>
            <a:ext cx="4754880" cy="43891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30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Monthly fee sistem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37307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8FAFC"/>
                </a:solidFill>
              </a:rPr>
              <a:t>−Rp 1.000.000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151376"/>
            <a:ext cx="4754880" cy="438912"/>
          </a:xfrm>
          <a:prstGeom prst="rect">
            <a:avLst/>
          </a:prstGeom>
          <a:solidFill>
            <a:srgbClr val="0A2D1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062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Net gain per bulan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31920" y="42062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≥ Rp 500.000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ROI bulan pertama sudah positif.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Setup fee kembali dalam ≤ 3 bulan.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777240"/>
            <a:ext cx="2926080" cy="1097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777240"/>
            <a:ext cx="2926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8686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1jt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760720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Monthly fee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(setara 2 sesi Mock)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0720" y="2103120"/>
            <a:ext cx="2926080" cy="1097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2103120"/>
            <a:ext cx="29260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21945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3bln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576072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Break-even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setup fee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3429000"/>
            <a:ext cx="2926080" cy="109728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3429000"/>
            <a:ext cx="29260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0" y="35204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760720" y="4160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Skalabilitas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tanpa biaya tambahan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Go-live dalam 30 hari.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832104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207008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Day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463040" cy="25603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783080"/>
            <a:ext cx="14630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Kickoff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Finalisasi kebutuhan Sam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926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Setup Google Sheets database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5204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Konfigurasi n8n instance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06624" y="1207008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207568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Day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75688" y="1783080"/>
            <a:ext cx="1463040" cy="25603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75688" y="1783080"/>
            <a:ext cx="14630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2167128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67128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Build booking form 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67128" y="2926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Setup workflow n8n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67128" y="35204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Integrasi WhatsApp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98264" y="12070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76732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Day 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67328" y="1783080"/>
            <a:ext cx="1463040" cy="25603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67328" y="1783080"/>
            <a:ext cx="1463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58768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58768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End-to-end testing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58768" y="2926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Uji skenario edge case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35204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Fix &amp; refinement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12070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45896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Day 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58968" y="1783080"/>
            <a:ext cx="1463040" cy="25603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58968" y="1783080"/>
            <a:ext cx="1463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550408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Finalisasi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0408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Training Sam (1 sesi)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0408" y="2926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Finalisasi konten WA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50408" y="35204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Dry run bersama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81544" y="120700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Day 30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50608" y="1783080"/>
            <a:ext cx="1463040" cy="256032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50608" y="1783080"/>
            <a:ext cx="1463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242048" y="1901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Go Live 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42048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Sistem aktif &amp; live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42048" y="2926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Monitoring H+1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42048" y="35204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· Maintenance mode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Setelah Go Live: ongoing maintenance, monitoring, dan support tersedia via monthly fee.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8FAFC">
                    <a:alpha val="9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 Guarantee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450592"/>
            <a:ext cx="274320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Jika dalam 30 hari pertama sistem belum berjalan sesuai ekspektasi,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kami akan terus melakukan penyesuaian dan optimasi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tanpa biaya tambahan hingga sistem benar-benar fit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dengan workflow The Scholars.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66130-2315-147F-B6CC-C6C1D701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B94A04-347C-6274-A740-31ACEFE4D1F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3EE07C-A4F1-C9DB-ED9A-44B582F2AABF}"/>
              </a:ext>
            </a:extLst>
          </p:cNvPr>
          <p:cNvSpPr/>
          <p:nvPr/>
        </p:nvSpPr>
        <p:spPr>
          <a:xfrm>
            <a:off x="411480" y="137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D53DF0-578B-238F-16CD-6373FD9064F8}"/>
              </a:ext>
            </a:extLst>
          </p:cNvPr>
          <p:cNvSpPr/>
          <p:nvPr/>
        </p:nvSpPr>
        <p:spPr>
          <a:xfrm>
            <a:off x="411480" y="868680"/>
            <a:ext cx="3840480" cy="3657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C270B2-F174-46E3-02F0-5DE43FA34591}"/>
              </a:ext>
            </a:extLst>
          </p:cNvPr>
          <p:cNvSpPr/>
          <p:nvPr/>
        </p:nvSpPr>
        <p:spPr>
          <a:xfrm>
            <a:off x="411480" y="868680"/>
            <a:ext cx="38404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0B19B1-ADDE-83CB-0880-228D57938162}"/>
              </a:ext>
            </a:extLst>
          </p:cNvPr>
          <p:cNvSpPr/>
          <p:nvPr/>
        </p:nvSpPr>
        <p:spPr>
          <a:xfrm>
            <a:off x="5943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</a:rPr>
              <a:t>One-Time Setup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3E5887-2BB4-DAC1-433B-ED1C66D9F718}"/>
              </a:ext>
            </a:extLst>
          </p:cNvPr>
          <p:cNvSpPr/>
          <p:nvPr/>
        </p:nvSpPr>
        <p:spPr>
          <a:xfrm>
            <a:off x="594360" y="1371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2.500.000</a:t>
            </a:r>
            <a:endParaRPr lang="en-US" sz="3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8164B8-C732-A810-F7B6-2F45CD398B68}"/>
              </a:ext>
            </a:extLst>
          </p:cNvPr>
          <p:cNvSpPr/>
          <p:nvPr/>
        </p:nvSpPr>
        <p:spPr>
          <a:xfrm>
            <a:off x="5943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Bayar sekali, sistem </a:t>
            </a:r>
            <a:r>
              <a:rPr lang="en-US" sz="1000" dirty="0" err="1">
                <a:solidFill>
                  <a:srgbClr val="94A3B8"/>
                </a:solidFill>
              </a:rPr>
              <a:t>milik</a:t>
            </a:r>
            <a:r>
              <a:rPr lang="en-US" sz="1000" dirty="0">
                <a:solidFill>
                  <a:srgbClr val="94A3B8"/>
                </a:solidFill>
              </a:rPr>
              <a:t> The Scholars selamanya.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455188-D5D7-0CED-D3CC-775431957F2F}"/>
              </a:ext>
            </a:extLst>
          </p:cNvPr>
          <p:cNvSpPr/>
          <p:nvPr/>
        </p:nvSpPr>
        <p:spPr>
          <a:xfrm>
            <a:off x="59436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Setup n8n workflow lengkap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8B028F1-B7D0-6DB5-C3D8-CD25F21DA9AF}"/>
              </a:ext>
            </a:extLst>
          </p:cNvPr>
          <p:cNvSpPr/>
          <p:nvPr/>
        </p:nvSpPr>
        <p:spPr>
          <a:xfrm>
            <a:off x="59436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Booking form HTML kustom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A5AC3F-647B-CE8C-BC18-DDB2E39E706F}"/>
              </a:ext>
            </a:extLst>
          </p:cNvPr>
          <p:cNvSpPr/>
          <p:nvPr/>
        </p:nvSpPr>
        <p:spPr>
          <a:xfrm>
            <a:off x="59436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Integrasi Google Sheets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61E984-CA78-694B-3860-2D8E4237D854}"/>
              </a:ext>
            </a:extLst>
          </p:cNvPr>
          <p:cNvSpPr/>
          <p:nvPr/>
        </p:nvSpPr>
        <p:spPr>
          <a:xfrm>
            <a:off x="59436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Integrasi WhatsApp API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D5BFF6-84FE-B295-A7EF-E7CB0F2549EC}"/>
              </a:ext>
            </a:extLst>
          </p:cNvPr>
          <p:cNvSpPr/>
          <p:nvPr/>
        </p:nvSpPr>
        <p:spPr>
          <a:xfrm>
            <a:off x="594360" y="3877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Testing &amp; QA end-to-end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30A52F-40B6-A221-F215-933F48FBCCBF}"/>
              </a:ext>
            </a:extLst>
          </p:cNvPr>
          <p:cNvSpPr/>
          <p:nvPr/>
        </p:nvSpPr>
        <p:spPr>
          <a:xfrm>
            <a:off x="5943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Handover &amp; training Sam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5AA7701-080A-E866-2567-EA257ACC276E}"/>
              </a:ext>
            </a:extLst>
          </p:cNvPr>
          <p:cNvSpPr/>
          <p:nvPr/>
        </p:nvSpPr>
        <p:spPr>
          <a:xfrm>
            <a:off x="4572000" y="868680"/>
            <a:ext cx="3840480" cy="3657600"/>
          </a:xfrm>
          <a:prstGeom prst="rect">
            <a:avLst/>
          </a:prstGeom>
          <a:solidFill>
            <a:srgbClr val="1B2538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C5FF6CC-0111-2119-55E3-139CE84B6CF2}"/>
              </a:ext>
            </a:extLst>
          </p:cNvPr>
          <p:cNvSpPr/>
          <p:nvPr/>
        </p:nvSpPr>
        <p:spPr>
          <a:xfrm>
            <a:off x="4572000" y="868680"/>
            <a:ext cx="3840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5DCEB5-DE94-9E34-7C6C-FD1F2F4BE5D7}"/>
              </a:ext>
            </a:extLst>
          </p:cNvPr>
          <p:cNvSpPr/>
          <p:nvPr/>
        </p:nvSpPr>
        <p:spPr>
          <a:xfrm>
            <a:off x="47548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</a:rPr>
              <a:t>Monthly Fee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175E22-CD22-BA4A-565A-1F4B8B9B3A09}"/>
              </a:ext>
            </a:extLst>
          </p:cNvPr>
          <p:cNvSpPr/>
          <p:nvPr/>
        </p:nvSpPr>
        <p:spPr>
          <a:xfrm>
            <a:off x="4754880" y="13990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1.000.000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500.000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B1191C2-37C1-E675-67A2-CA44754BCB56}"/>
              </a:ext>
            </a:extLst>
          </p:cNvPr>
          <p:cNvSpPr/>
          <p:nvPr/>
        </p:nvSpPr>
        <p:spPr>
          <a:xfrm>
            <a:off x="47548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F59E0B"/>
                </a:solidFill>
              </a:rPr>
              <a:t>/Bulan (</a:t>
            </a:r>
            <a:r>
              <a:rPr lang="en-US" sz="1400" b="1" kern="0" spc="100" dirty="0" err="1">
                <a:solidFill>
                  <a:srgbClr val="F59E0B"/>
                </a:solidFill>
              </a:rPr>
              <a:t>Untuk</a:t>
            </a:r>
            <a:r>
              <a:rPr lang="en-US" sz="1400" b="1" kern="0" spc="100" dirty="0">
                <a:solidFill>
                  <a:srgbClr val="F59E0B"/>
                </a:solidFill>
              </a:rPr>
              <a:t> 3 Bulan </a:t>
            </a:r>
            <a:r>
              <a:rPr lang="en-US" sz="1400" b="1" kern="0" spc="100" dirty="0" err="1">
                <a:solidFill>
                  <a:srgbClr val="F59E0B"/>
                </a:solidFill>
              </a:rPr>
              <a:t>Pertama</a:t>
            </a:r>
            <a:r>
              <a:rPr lang="en-US" sz="1400" b="1" kern="0" spc="100" dirty="0">
                <a:solidFill>
                  <a:srgbClr val="F59E0B"/>
                </a:solidFill>
              </a:rPr>
              <a:t>)</a:t>
            </a:r>
            <a:endParaRPr lang="en-US" sz="1400" b="1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D522E1-9E24-4D85-B8BB-9313F17F1E6F}"/>
              </a:ext>
            </a:extLst>
          </p:cNvPr>
          <p:cNvSpPr/>
          <p:nvPr/>
        </p:nvSpPr>
        <p:spPr>
          <a:xfrm>
            <a:off x="47548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Maintenance &amp; monitoring sistem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BF7FB3A-7184-96CD-D097-7CBF3C9A94D6}"/>
              </a:ext>
            </a:extLst>
          </p:cNvPr>
          <p:cNvSpPr/>
          <p:nvPr/>
        </p:nvSpPr>
        <p:spPr>
          <a:xfrm>
            <a:off x="475488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Update workflow jika ada perubahan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4B8BCA2-5B26-025B-A38E-695F0E8F9B38}"/>
              </a:ext>
            </a:extLst>
          </p:cNvPr>
          <p:cNvSpPr/>
          <p:nvPr/>
        </p:nvSpPr>
        <p:spPr>
          <a:xfrm>
            <a:off x="475488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WhatsApp API running cost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4AE665D-8AB2-D1AD-0D69-CB463E70177C}"/>
              </a:ext>
            </a:extLst>
          </p:cNvPr>
          <p:cNvSpPr/>
          <p:nvPr/>
        </p:nvSpPr>
        <p:spPr>
          <a:xfrm>
            <a:off x="47548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Priority support via WA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3985079-B3FA-7161-92C3-51738D1FEBC3}"/>
              </a:ext>
            </a:extLst>
          </p:cNvPr>
          <p:cNvSpPr/>
          <p:nvPr/>
        </p:nvSpPr>
        <p:spPr>
          <a:xfrm>
            <a:off x="4754880" y="3877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Monthly health check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B16A36B-C24A-2E62-E006-7546A1F9BC5B}"/>
              </a:ext>
            </a:extLst>
          </p:cNvPr>
          <p:cNvSpPr/>
          <p:nvPr/>
        </p:nvSpPr>
        <p:spPr>
          <a:xfrm>
            <a:off x="47548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✅  Minor adjustment request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2FC02FF-2353-92A8-53EF-E6D1FB41A0E2}"/>
              </a:ext>
            </a:extLst>
          </p:cNvPr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*Harga sudah termasuk automation services, WhatsApp API, integrasi Google Sheets, dan ongoing maintenance.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8A499E4-1BDC-FECD-9AF0-24125FEF4CE0}"/>
              </a:ext>
            </a:extLst>
          </p:cNvPr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20116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</a:rPr>
              <a:t>The Scholars Booking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218688"/>
            <a:ext cx="2743200" cy="228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by : Steven Leroy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Thank you for your time &amp; attention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+628155202354  ·  chatminagent@gmail.com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2918</Words>
  <Application>Microsoft Office PowerPoint</Application>
  <PresentationFormat>On-screen Show (16:9)</PresentationFormat>
  <Paragraphs>511</Paragraphs>
  <Slides>29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 Booking System — Pitch Deck</dc:title>
  <dc:subject>PptxGenJS Presentation</dc:subject>
  <dc:creator>Steven Leroy</dc:creator>
  <cp:lastModifiedBy>sia leroy</cp:lastModifiedBy>
  <cp:revision>2</cp:revision>
  <dcterms:created xsi:type="dcterms:W3CDTF">2026-06-09T12:50:00Z</dcterms:created>
  <dcterms:modified xsi:type="dcterms:W3CDTF">2026-06-09T14:42:48Z</dcterms:modified>
</cp:coreProperties>
</file>